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7104063" cy="10234613"/>
  <p:custDataLst>
    <p:tags r:id="rId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8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2025/5/23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197225" y="255270"/>
            <a:ext cx="4500880" cy="753745"/>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5" name="文本框 4"/>
          <p:cNvSpPr txBox="1"/>
          <p:nvPr/>
        </p:nvSpPr>
        <p:spPr>
          <a:xfrm>
            <a:off x="3158490" y="284232"/>
            <a:ext cx="4578350" cy="707886"/>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cs typeface="Times New Roman" panose="02020603050405020304" charset="0"/>
              </a:rPr>
              <a:t>输入一个任意表面网格作为基准面网格，一个任意表面网格作为部件网格，对所述基准面网格进行参数化，得到二维参数平面，将得到的二维参数平面作为基准参数平面，根据物理空间和所述基准参数平面的映射关系，建立第一映射函数</a:t>
            </a:r>
          </a:p>
        </p:txBody>
      </p:sp>
      <p:grpSp>
        <p:nvGrpSpPr>
          <p:cNvPr id="14" name="组合 13"/>
          <p:cNvGrpSpPr/>
          <p:nvPr/>
        </p:nvGrpSpPr>
        <p:grpSpPr>
          <a:xfrm>
            <a:off x="3148330" y="1352550"/>
            <a:ext cx="4559300" cy="753745"/>
            <a:chOff x="4958" y="2298"/>
            <a:chExt cx="7180" cy="1187"/>
          </a:xfrm>
        </p:grpSpPr>
        <p:sp>
          <p:nvSpPr>
            <p:cNvPr id="6" name="矩形 5"/>
            <p:cNvSpPr/>
            <p:nvPr/>
          </p:nvSpPr>
          <p:spPr>
            <a:xfrm>
              <a:off x="5035" y="2298"/>
              <a:ext cx="7088" cy="1187"/>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7" name="文本框 6"/>
            <p:cNvSpPr txBox="1"/>
            <p:nvPr/>
          </p:nvSpPr>
          <p:spPr>
            <a:xfrm>
              <a:off x="4958" y="2437"/>
              <a:ext cx="7180" cy="871"/>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cs typeface="Times New Roman" panose="02020603050405020304" charset="0"/>
                </a:rPr>
                <a:t>将所述基准参数平面置于笛卡尔坐标系的</a:t>
              </a:r>
              <a:r>
                <a:rPr lang="en-US" altLang="zh-CN" sz="1000" dirty="0">
                  <a:latin typeface="Times New Roman" panose="02020603050405020304" charset="0"/>
                  <a:ea typeface="楷体" panose="02010609060101010101" charset="-122"/>
                  <a:cs typeface="Times New Roman" panose="02020603050405020304" charset="0"/>
                </a:rPr>
                <a:t>XY</a:t>
              </a:r>
              <a:r>
                <a:rPr lang="zh-CN" altLang="en-US" sz="1000" dirty="0">
                  <a:latin typeface="Times New Roman" panose="02020603050405020304" charset="0"/>
                  <a:ea typeface="楷体" panose="02010609060101010101" charset="-122"/>
                  <a:cs typeface="Times New Roman" panose="02020603050405020304" charset="0"/>
                </a:rPr>
                <a:t>平面上，并沿</a:t>
              </a:r>
              <a:r>
                <a:rPr lang="en-US" altLang="zh-CN" sz="1000" dirty="0">
                  <a:latin typeface="Times New Roman" panose="02020603050405020304" charset="0"/>
                  <a:ea typeface="楷体" panose="02010609060101010101" charset="-122"/>
                  <a:cs typeface="Times New Roman" panose="02020603050405020304" charset="0"/>
                </a:rPr>
                <a:t>Z</a:t>
              </a:r>
              <a:r>
                <a:rPr lang="zh-CN" altLang="en-US" sz="1000" dirty="0">
                  <a:latin typeface="Times New Roman" panose="02020603050405020304" charset="0"/>
                  <a:ea typeface="楷体" panose="02010609060101010101" charset="-122"/>
                  <a:cs typeface="Times New Roman" panose="02020603050405020304" charset="0"/>
                </a:rPr>
                <a:t>轴方向拉伸生成顶面，得到三维参数空间，将所述基准参数平面中的基准面网格由三角网格结构转化为三维参数空间中的三棱柱网格结构</a:t>
              </a:r>
            </a:p>
          </p:txBody>
        </p:sp>
      </p:grpSp>
      <p:grpSp>
        <p:nvGrpSpPr>
          <p:cNvPr id="15" name="组合 14"/>
          <p:cNvGrpSpPr/>
          <p:nvPr/>
        </p:nvGrpSpPr>
        <p:grpSpPr>
          <a:xfrm>
            <a:off x="3114040" y="2441575"/>
            <a:ext cx="4587875" cy="753745"/>
            <a:chOff x="4904" y="4250"/>
            <a:chExt cx="7225" cy="1187"/>
          </a:xfrm>
        </p:grpSpPr>
        <p:sp>
          <p:nvSpPr>
            <p:cNvPr id="8" name="矩形 7"/>
            <p:cNvSpPr/>
            <p:nvPr/>
          </p:nvSpPr>
          <p:spPr>
            <a:xfrm>
              <a:off x="5035" y="4250"/>
              <a:ext cx="7088" cy="1187"/>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9" name="文本框 8"/>
            <p:cNvSpPr txBox="1"/>
            <p:nvPr/>
          </p:nvSpPr>
          <p:spPr>
            <a:xfrm>
              <a:off x="4904" y="4649"/>
              <a:ext cx="7225" cy="388"/>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rPr>
                <a:t>在物理空间中将所述基准面网格由三角网格结构扩展为三棱柱网格结构</a:t>
              </a:r>
            </a:p>
          </p:txBody>
        </p:sp>
      </p:grpSp>
      <p:grpSp>
        <p:nvGrpSpPr>
          <p:cNvPr id="16" name="组合 15"/>
          <p:cNvGrpSpPr/>
          <p:nvPr/>
        </p:nvGrpSpPr>
        <p:grpSpPr>
          <a:xfrm>
            <a:off x="3176905" y="3503930"/>
            <a:ext cx="4521200" cy="753745"/>
            <a:chOff x="5003" y="6187"/>
            <a:chExt cx="7120" cy="1187"/>
          </a:xfrm>
        </p:grpSpPr>
        <p:sp>
          <p:nvSpPr>
            <p:cNvPr id="10" name="矩形 9"/>
            <p:cNvSpPr/>
            <p:nvPr/>
          </p:nvSpPr>
          <p:spPr>
            <a:xfrm>
              <a:off x="5035" y="6187"/>
              <a:ext cx="7088" cy="1187"/>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文本框 10"/>
            <p:cNvSpPr txBox="1"/>
            <p:nvPr/>
          </p:nvSpPr>
          <p:spPr>
            <a:xfrm>
              <a:off x="5003" y="6354"/>
              <a:ext cx="7090" cy="872"/>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cs typeface="Times New Roman" panose="02020603050405020304" charset="0"/>
                </a:rPr>
                <a:t>根据用户输入的指定装配点坐标、指定装配方向向量和第一映射函数，将所述部件网格的节点坐标映射到所述三维参数空间，所述部件网格的拓扑结构保持不变，得到三维参数空间中的部件网格结构</a:t>
              </a:r>
            </a:p>
          </p:txBody>
        </p:sp>
      </p:grpSp>
      <p:grpSp>
        <p:nvGrpSpPr>
          <p:cNvPr id="17" name="组合 16"/>
          <p:cNvGrpSpPr/>
          <p:nvPr/>
        </p:nvGrpSpPr>
        <p:grpSpPr>
          <a:xfrm>
            <a:off x="3197225" y="4601845"/>
            <a:ext cx="4500880" cy="761365"/>
            <a:chOff x="5035" y="8124"/>
            <a:chExt cx="7088" cy="1199"/>
          </a:xfrm>
        </p:grpSpPr>
        <p:sp>
          <p:nvSpPr>
            <p:cNvPr id="12" name="矩形 11"/>
            <p:cNvSpPr/>
            <p:nvPr/>
          </p:nvSpPr>
          <p:spPr>
            <a:xfrm>
              <a:off x="5035" y="8124"/>
              <a:ext cx="7088" cy="1187"/>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3" name="文本框 12"/>
            <p:cNvSpPr txBox="1"/>
            <p:nvPr/>
          </p:nvSpPr>
          <p:spPr>
            <a:xfrm>
              <a:off x="5106" y="8208"/>
              <a:ext cx="6946" cy="1115"/>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cs typeface="Times New Roman" panose="02020603050405020304" charset="0"/>
                </a:rPr>
                <a:t>根据三维参数空间中的三棱柱网格结构和物理空间中的三棱柱网格结构，建立第二映射函数，根据所述第二映射函数将所述部件网格结构的节点坐标映射到物理空间，保持所述部件网格结构拓扑关系不变，得到物理空间中的部件网格</a:t>
              </a:r>
            </a:p>
          </p:txBody>
        </p:sp>
      </p:grpSp>
      <p:grpSp>
        <p:nvGrpSpPr>
          <p:cNvPr id="18" name="组合 17"/>
          <p:cNvGrpSpPr/>
          <p:nvPr/>
        </p:nvGrpSpPr>
        <p:grpSpPr>
          <a:xfrm>
            <a:off x="3148330" y="5699760"/>
            <a:ext cx="4549775" cy="753745"/>
            <a:chOff x="4958" y="8124"/>
            <a:chExt cx="7165" cy="1187"/>
          </a:xfrm>
        </p:grpSpPr>
        <p:sp>
          <p:nvSpPr>
            <p:cNvPr id="19" name="矩形 18"/>
            <p:cNvSpPr/>
            <p:nvPr/>
          </p:nvSpPr>
          <p:spPr>
            <a:xfrm>
              <a:off x="5035" y="8124"/>
              <a:ext cx="7088" cy="1187"/>
            </a:xfrm>
            <a:prstGeom prst="rect">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0" name="文本框 19"/>
            <p:cNvSpPr txBox="1"/>
            <p:nvPr/>
          </p:nvSpPr>
          <p:spPr>
            <a:xfrm>
              <a:off x="4958" y="8404"/>
              <a:ext cx="7038" cy="628"/>
            </a:xfrm>
            <a:prstGeom prst="rect">
              <a:avLst/>
            </a:prstGeom>
            <a:noFill/>
          </p:spPr>
          <p:txBody>
            <a:bodyPr wrap="square" rtlCol="0">
              <a:spAutoFit/>
            </a:bodyPr>
            <a:lstStyle/>
            <a:p>
              <a:pPr algn="ctr"/>
              <a:r>
                <a:rPr lang="zh-CN" altLang="en-US" sz="1000" dirty="0">
                  <a:latin typeface="Times New Roman" panose="02020603050405020304" charset="0"/>
                  <a:ea typeface="楷体" panose="02010609060101010101" charset="-122"/>
                </a:rPr>
                <a:t>将所述物理空间中的部件网格与基准面网格进行合并，使部件网格与基准面之间的过渡平滑，消除装配接缝处的不连续性，使装配接缝处共节点</a:t>
              </a:r>
              <a:endParaRPr lang="zh-CN" sz="1000" dirty="0">
                <a:latin typeface="Times New Roman" panose="02020603050405020304" charset="0"/>
                <a:ea typeface="楷体" panose="02010609060101010101" charset="-122"/>
              </a:endParaRPr>
            </a:p>
          </p:txBody>
        </p:sp>
      </p:grpSp>
      <p:cxnSp>
        <p:nvCxnSpPr>
          <p:cNvPr id="22" name="直接箭头连接符 21"/>
          <p:cNvCxnSpPr/>
          <p:nvPr/>
        </p:nvCxnSpPr>
        <p:spPr>
          <a:xfrm>
            <a:off x="5495290" y="1009015"/>
            <a:ext cx="4445" cy="331470"/>
          </a:xfrm>
          <a:prstGeom prst="straightConnector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5490845" y="2121535"/>
            <a:ext cx="4445" cy="331470"/>
          </a:xfrm>
          <a:prstGeom prst="straightConnector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486400" y="3184525"/>
            <a:ext cx="4445" cy="331470"/>
          </a:xfrm>
          <a:prstGeom prst="straightConnector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481955" y="4276725"/>
            <a:ext cx="4445" cy="331470"/>
          </a:xfrm>
          <a:prstGeom prst="straightConnector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481955" y="5379720"/>
            <a:ext cx="4445" cy="331470"/>
          </a:xfrm>
          <a:prstGeom prst="straightConnector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8" name="任意多边形 27"/>
          <p:cNvSpPr/>
          <p:nvPr/>
        </p:nvSpPr>
        <p:spPr>
          <a:xfrm>
            <a:off x="7706360" y="609600"/>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9" name="任意多边形 28"/>
          <p:cNvSpPr/>
          <p:nvPr/>
        </p:nvSpPr>
        <p:spPr>
          <a:xfrm>
            <a:off x="7706360" y="1731645"/>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0" name="任意多边形 29"/>
          <p:cNvSpPr/>
          <p:nvPr/>
        </p:nvSpPr>
        <p:spPr>
          <a:xfrm>
            <a:off x="7706360" y="2847975"/>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1" name="任意多边形 30"/>
          <p:cNvSpPr/>
          <p:nvPr/>
        </p:nvSpPr>
        <p:spPr>
          <a:xfrm>
            <a:off x="7706360" y="3867785"/>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2" name="任意多边形 31"/>
          <p:cNvSpPr/>
          <p:nvPr/>
        </p:nvSpPr>
        <p:spPr>
          <a:xfrm>
            <a:off x="7706360" y="4998720"/>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3" name="任意多边形 32"/>
          <p:cNvSpPr/>
          <p:nvPr/>
        </p:nvSpPr>
        <p:spPr>
          <a:xfrm>
            <a:off x="7706360" y="6057900"/>
            <a:ext cx="808990" cy="165735"/>
          </a:xfrm>
          <a:custGeom>
            <a:avLst/>
            <a:gdLst>
              <a:gd name="connisteX0" fmla="*/ 0 w 808990"/>
              <a:gd name="connsiteY0" fmla="*/ 0 h 165469"/>
              <a:gd name="connisteX1" fmla="*/ 499745 w 808990"/>
              <a:gd name="connsiteY1" fmla="*/ 163830 h 165469"/>
              <a:gd name="connisteX2" fmla="*/ 808990 w 808990"/>
              <a:gd name="connsiteY2" fmla="*/ 77470 h 165469"/>
              <a:gd name="connisteX3" fmla="*/ 826770 w 808990"/>
              <a:gd name="connsiteY3" fmla="*/ 136525 h 165469"/>
            </a:gdLst>
            <a:ahLst/>
            <a:cxnLst>
              <a:cxn ang="0">
                <a:pos x="connisteX0" y="connsiteY0"/>
              </a:cxn>
              <a:cxn ang="0">
                <a:pos x="connisteX1" y="connsiteY1"/>
              </a:cxn>
              <a:cxn ang="0">
                <a:pos x="connisteX2" y="connsiteY2"/>
              </a:cxn>
              <a:cxn ang="0">
                <a:pos x="connisteX3" y="connsiteY3"/>
              </a:cxn>
            </a:cxnLst>
            <a:rect l="l" t="t" r="r" b="b"/>
            <a:pathLst>
              <a:path w="808990" h="165469">
                <a:moveTo>
                  <a:pt x="0" y="0"/>
                </a:moveTo>
                <a:cubicBezTo>
                  <a:pt x="93980" y="34290"/>
                  <a:pt x="337820" y="148590"/>
                  <a:pt x="499745" y="163830"/>
                </a:cubicBezTo>
                <a:cubicBezTo>
                  <a:pt x="661670" y="179070"/>
                  <a:pt x="743585" y="83185"/>
                  <a:pt x="808990" y="77470"/>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4" name="文本框 33"/>
          <p:cNvSpPr txBox="1"/>
          <p:nvPr/>
        </p:nvSpPr>
        <p:spPr>
          <a:xfrm>
            <a:off x="8364855" y="413385"/>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S1</a:t>
            </a:r>
          </a:p>
        </p:txBody>
      </p:sp>
      <p:sp>
        <p:nvSpPr>
          <p:cNvPr id="35" name="文本框 34"/>
          <p:cNvSpPr txBox="1"/>
          <p:nvPr/>
        </p:nvSpPr>
        <p:spPr>
          <a:xfrm>
            <a:off x="8364855" y="1536700"/>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S2</a:t>
            </a:r>
          </a:p>
        </p:txBody>
      </p:sp>
      <p:sp>
        <p:nvSpPr>
          <p:cNvPr id="36" name="文本框 35"/>
          <p:cNvSpPr txBox="1"/>
          <p:nvPr/>
        </p:nvSpPr>
        <p:spPr>
          <a:xfrm>
            <a:off x="8364855" y="2653665"/>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S3</a:t>
            </a:r>
          </a:p>
        </p:txBody>
      </p:sp>
      <p:sp>
        <p:nvSpPr>
          <p:cNvPr id="37" name="文本框 36"/>
          <p:cNvSpPr txBox="1"/>
          <p:nvPr/>
        </p:nvSpPr>
        <p:spPr>
          <a:xfrm>
            <a:off x="8364855" y="3689985"/>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S4</a:t>
            </a:r>
          </a:p>
        </p:txBody>
      </p:sp>
      <p:sp>
        <p:nvSpPr>
          <p:cNvPr id="38" name="文本框 37"/>
          <p:cNvSpPr txBox="1"/>
          <p:nvPr/>
        </p:nvSpPr>
        <p:spPr>
          <a:xfrm>
            <a:off x="8364855" y="4801870"/>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S5</a:t>
            </a:r>
          </a:p>
        </p:txBody>
      </p:sp>
      <p:sp>
        <p:nvSpPr>
          <p:cNvPr id="39" name="文本框 38"/>
          <p:cNvSpPr txBox="1"/>
          <p:nvPr/>
        </p:nvSpPr>
        <p:spPr>
          <a:xfrm>
            <a:off x="8364855" y="5856605"/>
            <a:ext cx="518160" cy="306705"/>
          </a:xfrm>
          <a:prstGeom prst="rect">
            <a:avLst/>
          </a:prstGeom>
          <a:noFill/>
        </p:spPr>
        <p:txBody>
          <a:bodyPr wrap="square" rtlCol="0">
            <a:spAutoFit/>
          </a:bodyPr>
          <a:lstStyle/>
          <a:p>
            <a:r>
              <a:rPr lang="en-US" altLang="zh-CN" sz="1400">
                <a:latin typeface="Times New Roman" panose="02020603050405020304" charset="0"/>
                <a:cs typeface="Times New Roman" panose="02020603050405020304" charset="0"/>
              </a:rPr>
              <a:t>S6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Q4YjY0ZjYxZWEyNWZjNjY3Yjk2ZWRhYjJiMzcyN2MifQ=="/>
  <p:tag name="KSO_WPP_MARK_KEY" val="5507d578-d1be-4a50-b34e-b5a6e75a533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279</Words>
  <Application>Microsoft Office PowerPoint</Application>
  <PresentationFormat>宽屏</PresentationFormat>
  <Paragraphs>12</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Calibri</vt:lpstr>
      <vt:lpstr>Times New Roman</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雪鹃 陈</cp:lastModifiedBy>
  <cp:revision>8</cp:revision>
  <cp:lastPrinted>2025-05-23T06:51:04Z</cp:lastPrinted>
  <dcterms:created xsi:type="dcterms:W3CDTF">2025-04-07T07:53:00Z</dcterms:created>
  <dcterms:modified xsi:type="dcterms:W3CDTF">2025-05-23T07:01:50Z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63B638C6F3664299BD4ED66FD7ED9211</vt:lpwstr>
  </property>
  <property fmtid="{D5CDD505-2E9C-101B-9397-08002B2CF9AE}" pid="3" name="KSOProductBuildVer">
    <vt:lpwstr>2052-11.1.0.12173</vt:lpwstr>
  </property>
</Properties>
</file>